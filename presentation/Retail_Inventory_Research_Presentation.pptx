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16d624f994309" /><Relationship Type="http://schemas.openxmlformats.org/officeDocument/2006/relationships/extended-properties" Target="/docProps/app.xml" Id="R03593d33b07e4f86" /><Relationship Type="http://schemas.openxmlformats.org/officeDocument/2006/relationships/officeDocument" Target="/ppt/presentation.xml" Id="Rc8d84239a44c4f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260ab7fd174e50"/>
  </p:sldMasterIdLst>
  <p:notesMasterIdLst>
    <p:notesMasterId xmlns:r="http://schemas.openxmlformats.org/officeDocument/2006/relationships" r:id="R108443dedce04740"/>
  </p:notesMasterIdLst>
  <p:sldIdLst>
    <p:sldId xmlns:r="http://schemas.openxmlformats.org/officeDocument/2006/relationships" id="256" r:id="R5c3dd974e0cd4f99"/>
    <p:sldId xmlns:r="http://schemas.openxmlformats.org/officeDocument/2006/relationships" id="257" r:id="R2098c5addb0f455a"/>
    <p:sldId xmlns:r="http://schemas.openxmlformats.org/officeDocument/2006/relationships" id="258" r:id="Rdbd7cd46cc6c491e"/>
    <p:sldId xmlns:r="http://schemas.openxmlformats.org/officeDocument/2006/relationships" id="259" r:id="R2cec5faab4244ff6"/>
    <p:sldId xmlns:r="http://schemas.openxmlformats.org/officeDocument/2006/relationships" id="260" r:id="R172945de718e495b"/>
    <p:sldId xmlns:r="http://schemas.openxmlformats.org/officeDocument/2006/relationships" id="261" r:id="R183e513c09394dd9"/>
    <p:sldId xmlns:r="http://schemas.openxmlformats.org/officeDocument/2006/relationships" id="262" r:id="Rad1ecf9e8a2f4d93"/>
    <p:sldId xmlns:r="http://schemas.openxmlformats.org/officeDocument/2006/relationships" id="263" r:id="R35e9d8ddc93c4bff"/>
    <p:sldId xmlns:r="http://schemas.openxmlformats.org/officeDocument/2006/relationships" id="264" r:id="Ra239b49c95fd4122"/>
    <p:sldId xmlns:r="http://schemas.openxmlformats.org/officeDocument/2006/relationships" id="265" r:id="Re1c8e041fe64486d"/>
    <p:sldId xmlns:r="http://schemas.openxmlformats.org/officeDocument/2006/relationships" id="266" r:id="R1bc013d2786b4833"/>
    <p:sldId xmlns:r="http://schemas.openxmlformats.org/officeDocument/2006/relationships" id="267" r:id="Rcef41a9b4308423a"/>
    <p:sldId xmlns:r="http://schemas.openxmlformats.org/officeDocument/2006/relationships" id="268" r:id="Re7d7c67da3504984"/>
    <p:sldId xmlns:r="http://schemas.openxmlformats.org/officeDocument/2006/relationships" id="269" r:id="Rd0b205585fc14dc7"/>
    <p:sldId xmlns:r="http://schemas.openxmlformats.org/officeDocument/2006/relationships" id="270" r:id="Rb2d290cb2f3e45a2"/>
    <p:sldId xmlns:r="http://schemas.openxmlformats.org/officeDocument/2006/relationships" id="271" r:id="Rf701b52d080845d6"/>
    <p:sldId xmlns:r="http://schemas.openxmlformats.org/officeDocument/2006/relationships" id="272" r:id="R06c5c49ec7ac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e4e7c8d5e04c95" /><Relationship Type="http://schemas.openxmlformats.org/officeDocument/2006/relationships/slideMaster" Target="/ppt/slideMasters/slideMaster1.xml" Id="R9b260ab7fd174e50" /><Relationship Type="http://schemas.openxmlformats.org/officeDocument/2006/relationships/notesMaster" Target="/ppt/notesMasters/notesMaster1.xml" Id="R108443dedce04740" /><Relationship Type="http://schemas.openxmlformats.org/officeDocument/2006/relationships/presProps" Target="/ppt/presProps.xml" Id="Ra52e1176348d4284" /><Relationship Type="http://schemas.openxmlformats.org/officeDocument/2006/relationships/tableStyles" Target="/ppt/tableStyles.xml" Id="R9d403ff179af49fb" /><Relationship Type="http://schemas.openxmlformats.org/officeDocument/2006/relationships/slide" Target="/ppt/slides/slide1.xml" Id="R5c3dd974e0cd4f99" /><Relationship Type="http://schemas.openxmlformats.org/officeDocument/2006/relationships/slide" Target="/ppt/slides/slide2.xml" Id="R2098c5addb0f455a" /><Relationship Type="http://schemas.openxmlformats.org/officeDocument/2006/relationships/slide" Target="/ppt/slides/slide3.xml" Id="Rdbd7cd46cc6c491e" /><Relationship Type="http://schemas.openxmlformats.org/officeDocument/2006/relationships/slide" Target="/ppt/slides/slide4.xml" Id="R2cec5faab4244ff6" /><Relationship Type="http://schemas.openxmlformats.org/officeDocument/2006/relationships/slide" Target="/ppt/slides/slide5.xml" Id="R172945de718e495b" /><Relationship Type="http://schemas.openxmlformats.org/officeDocument/2006/relationships/slide" Target="/ppt/slides/slide6.xml" Id="R183e513c09394dd9" /><Relationship Type="http://schemas.openxmlformats.org/officeDocument/2006/relationships/slide" Target="/ppt/slides/slide7.xml" Id="Rad1ecf9e8a2f4d93" /><Relationship Type="http://schemas.openxmlformats.org/officeDocument/2006/relationships/slide" Target="/ppt/slides/slide8.xml" Id="R35e9d8ddc93c4bff" /><Relationship Type="http://schemas.openxmlformats.org/officeDocument/2006/relationships/slide" Target="/ppt/slides/slide9.xml" Id="Ra239b49c95fd4122" /><Relationship Type="http://schemas.openxmlformats.org/officeDocument/2006/relationships/slide" Target="/ppt/slides/slide10.xml" Id="Re1c8e041fe64486d" /><Relationship Type="http://schemas.openxmlformats.org/officeDocument/2006/relationships/slide" Target="/ppt/slides/slide11.xml" Id="R1bc013d2786b4833" /><Relationship Type="http://schemas.openxmlformats.org/officeDocument/2006/relationships/slide" Target="/ppt/slides/slide12.xml" Id="Rcef41a9b4308423a" /><Relationship Type="http://schemas.openxmlformats.org/officeDocument/2006/relationships/slide" Target="/ppt/slides/slide13.xml" Id="Re7d7c67da3504984" /><Relationship Type="http://schemas.openxmlformats.org/officeDocument/2006/relationships/slide" Target="/ppt/slides/slide14.xml" Id="Rd0b205585fc14dc7" /><Relationship Type="http://schemas.openxmlformats.org/officeDocument/2006/relationships/slide" Target="/ppt/slides/slide15.xml" Id="Rb2d290cb2f3e45a2" /><Relationship Type="http://schemas.openxmlformats.org/officeDocument/2006/relationships/slide" Target="/ppt/slides/slide16.xml" Id="Rf701b52d080845d6" /><Relationship Type="http://schemas.openxmlformats.org/officeDocument/2006/relationships/slide" Target="/ppt/slides/slide17.xml" Id="R06c5c49ec7ac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fe39052838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768a94ba1a42f9" /><Relationship Type="http://schemas.openxmlformats.org/officeDocument/2006/relationships/notesMaster" Target="/ppt/notesMasters/notesMaster1.xml" Id="R30c1a12ad3d442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524217b934316" /><Relationship Type="http://schemas.openxmlformats.org/officeDocument/2006/relationships/notesMaster" Target="/ppt/notesMasters/notesMaster1.xml" Id="Rdee4264da7d540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40a7796ef4533" /><Relationship Type="http://schemas.openxmlformats.org/officeDocument/2006/relationships/notesMaster" Target="/ppt/notesMasters/notesMaster1.xml" Id="R91d7de599dcb4b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939657da5b4d75" /><Relationship Type="http://schemas.openxmlformats.org/officeDocument/2006/relationships/notesMaster" Target="/ppt/notesMasters/notesMaster1.xml" Id="Ra5d41727f2a844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27e2dd1a7c4c32" /><Relationship Type="http://schemas.openxmlformats.org/officeDocument/2006/relationships/notesMaster" Target="/ppt/notesMasters/notesMaster1.xml" Id="Rc6dcca76f34e40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2ee10a7e74c6e" /><Relationship Type="http://schemas.openxmlformats.org/officeDocument/2006/relationships/notesMaster" Target="/ppt/notesMasters/notesMaster1.xml" Id="Ra9fc1debad23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68f78dfae84d92" /><Relationship Type="http://schemas.openxmlformats.org/officeDocument/2006/relationships/notesMaster" Target="/ppt/notesMasters/notesMaster1.xml" Id="Rc252e71990314c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b89197ab94e07" /><Relationship Type="http://schemas.openxmlformats.org/officeDocument/2006/relationships/notesMaster" Target="/ppt/notesMasters/notesMaster1.xml" Id="R18d191141bc74b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35651345e24230" /><Relationship Type="http://schemas.openxmlformats.org/officeDocument/2006/relationships/notesMaster" Target="/ppt/notesMasters/notesMaster1.xml" Id="Rc8a94863fee844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aa49b724264eb0" /><Relationship Type="http://schemas.openxmlformats.org/officeDocument/2006/relationships/notesMaster" Target="/ppt/notesMasters/notesMaster1.xml" Id="Ra7ef1d2fdda04e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ed274b66bf48a2" /><Relationship Type="http://schemas.openxmlformats.org/officeDocument/2006/relationships/notesMaster" Target="/ppt/notesMasters/notesMaster1.xml" Id="Rd3e29fbb88c748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c26c9e83e24fae" /><Relationship Type="http://schemas.openxmlformats.org/officeDocument/2006/relationships/notesMaster" Target="/ppt/notesMasters/notesMaster1.xml" Id="R89e906a97dcc4a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77b9b0480248d6" /><Relationship Type="http://schemas.openxmlformats.org/officeDocument/2006/relationships/notesMaster" Target="/ppt/notesMasters/notesMaster1.xml" Id="Re4f226af2aa347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398d359e0047d0" /><Relationship Type="http://schemas.openxmlformats.org/officeDocument/2006/relationships/notesMaster" Target="/ppt/notesMasters/notesMaster1.xml" Id="Rdaca1bbea4714f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c29e21941f45bf" /><Relationship Type="http://schemas.openxmlformats.org/officeDocument/2006/relationships/notesMaster" Target="/ppt/notesMasters/notesMaster1.xml" Id="Rd822fbc9d0a541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e5aef8bfe04e39" /><Relationship Type="http://schemas.openxmlformats.org/officeDocument/2006/relationships/notesMaster" Target="/ppt/notesMasters/notesMaster1.xml" Id="R1d4147b5d17f42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bdc047427c4d0c" /><Relationship Type="http://schemas.openxmlformats.org/officeDocument/2006/relationships/notesMaster" Target="/ppt/notesMasters/notesMaster1.xml" Id="R9ae004a22dca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约40秒：我研究零售企业存货增长超过收入增长时，下一年的毛利率和经营现金流表现是否更容易下降。项目结合SEC年度数据、会计口径核对、回归和年报案例。目前分析和报告已完成，但人工年报审核仍只覆盖部分记录。今天重点讲研究逻辑、主要证据，以及结论可以支持到什么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约50秒。核心假设是库存增长超过销售可能意味着备货超过需求，之后需要折扣或占用更多现金。但增长也可能来自开店、收购或补库存。因此这里检验关联，并结合年报区分经营背景。不能把正的存货增长差直接称为经营恶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约60秒。存货增长差是存货增长率减收入增长率，例如存货增长30%、收入增长10%，差值是20个百分点。毛利率等于披露毛利除以分析收入，现金流比率等于经营现金流除以收入。每条记录依赖三个年度：用上一年和当年计算增长，用当年和下一年计算比率变化。存货和资产是期末余额，收入与现金流是期间发生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候选池是人工选择的42家公司，覆盖五个研究者定义的业务组，它不是美国零售公司的完整总体或随机样本。共有656个年度记录，毛利率与现金流分别形成401和490条配对，两个结果共同可用的记录是399条。每家公司历史长度不同，构成不平衡面板。公司数量和年度记录数量应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十三个模块可以归纳为四个阶段：1到6先用AEO、ANF、URBN搭通流程；7到9扩大样本、检查覆盖并核对会计差异；10和11进行描述统计、敏感性和控制变量回归；12和13把年报证据落实到数据，再整理最终报告。最终运行顺序让12在10和11之前，保证审核决定能够进入统计结果。附录提供各模块的具体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相同财务标签未必意味着相同费用范围。Module9解释了13条会计差额，包括四条DDS记录采用核对后的净销售额分母，并保留原始值。已知拆分、终止经营等变化会影响相邻年度配对。时间上，当期年报在目标财年开始后38至134天才披露，因此这是历史年度关联设计，不能视为目标年开始前形成的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Module 9 reconciliation and Module 12 pairing audit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左图比较毛利率次年变化，右图比较现金流比率次年变化。正差组与非正差组的毛利率平均变化接近，但现金流比率正差组表现更正向。这是按公司年度等权的描述结果，还未纳入充分控制。其方向与最初预期并不一致，需要检查起点和公司、年份因素。</a:t>
            </a:r>
          </a:p>
          <a:p xmlns:a="http://schemas.openxmlformats.org/drawingml/2006/main">
            <a:r>
              <a:t>图表数据来自expanded_inventory_group_summary.csv，增长差和比率变化单位都是百分点。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Module 10 pooled group summaries. Means are in percentage points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主模型解释下一年的比率，控制当期比率、收入增长、对数资产、公司固定效应和目标年度固定效应。当期比率用于处理起点差异和回归常态；公司效应处理固定公司差异；年份效应处理共同年度影响。标准误按公司聚类，因为一家公司的多年记录可能相关。基期控制后的变化模型与水平模型有代数对应，并不是独立重复实验。高R平方也不等于预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Module 11 model specifications and firm-clustered inference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75秒。充分控制后，存货增长差每增加10个百分点，下一年毛利率关联约为负0.166个百分点，现金流比率关联约为正0.196个百分点。两者的95%区间都包含零，因此证据不足以支持稳定关联。这不能证明真实效应为零，也不能说明库存信息毫无价值。读数字时注意它是比率的百分点变化，不是收益率或下降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Module 11 fully adjusted models. Firm-clustered 95% intervals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70秒。四种样本条件分别为全部配对、没有明显年度长度变化的记录、两个结果共同可用的记录，以及存货增长差中间98%的记录。八条充分控制后的区间都包含零。敏感性既改变样本构成，也改变精度，所以不能当作八个独立实验。这里保留所有预先安排的条件，不按显著性挑选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expanded_adjusted_regression_sensitivity.csv. Estimates and intervals are pp per 10pp gap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。这条URBN案例当期存货增长差约为正5.98个百分点，次年毛利率下降约6.40个百分点，现金流比率下降约5.51个百分点。管理层提到新店和直接面向消费者渠道扩张影响了库存增长，次年滞销服饰降价与固定门店费用影响毛利。现金流下降主要与净利润下降有关，库存现金吸收反而较前一年减少。因此即使案例方向符合最初假设，也不能把所有现金流下降归因于库存。</a:t>
            </a:r>
          </a:p>
          <a:p xmlns:a="http://schemas.openxmlformats.org/drawingml/2006/main">
            <a:r>
              <a:t>来源：https://www.sec.gov/Archives/edgar/data/912615/000119312511085784/d10k.htm</a:t>
            </a:r>
          </a:p>
          <a:p xmlns:a="http://schemas.openxmlformats.org/drawingml/2006/main">
            <a:r>
              <a:t>https://www.sec.gov/Archives/edgar/data/912615/000119312512146029/d276682d10k.htm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URBN filings for periods ending 2011-01-31 and 2012-01-31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75秒。疫情期间需求大增，存货下降，形成非常负的增长差。随后公司补库存、应付账款减少，现金流比率下降。库存大增后的下一年，库存占用现金的增量明显减少，物流成本也下降，毛利率和现金流比率改善。FY2021还收到5500万美元一次性并购终止款，影响现金流起点。两个案例都保留，说明同一个指标必须结合需求周期和现金流构成解释。</a:t>
            </a:r>
          </a:p>
          <a:p xmlns:a="http://schemas.openxmlformats.org/drawingml/2006/main">
            <a:r>
              <a:t>来源：https://www.sec.gov/Archives/edgar/data/1132105/000155837021003940/spwh-20210130x10k.htm</a:t>
            </a:r>
          </a:p>
          <a:p xmlns:a="http://schemas.openxmlformats.org/drawingml/2006/main">
            <a:r>
              <a:t>https://www.sec.gov/Archives/edgar/data/1132105/000155837022004698/spwh-20220129x10k.htm</a:t>
            </a:r>
          </a:p>
          <a:p xmlns:a="http://schemas.openxmlformats.org/drawingml/2006/main">
            <a:r>
              <a:t>https://www.sec.gov/Archives/edgar/data/1132105/000155837022004698/spwh-20220129x10k.htm</a:t>
            </a:r>
          </a:p>
          <a:p xmlns:a="http://schemas.openxmlformats.org/drawingml/2006/main">
            <a:r>
              <a:t>https://www.sec.gov/Archives/edgar/data/1132105/000095017023012621/spwh-20230128.htm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SPWH FY2020–FY2022 filings. All table values are percentage points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70秒。目前完成两家公司资格、七个年度以及七条选定案例中的三条审核。整体样本仍为provisional。剩余四条案例是AKA、ARHS、ULTA和KSS，且多数公司历史尚未核查。其他限制包括人工候选名单、不平衡面板、费用口径差异和缺失字段。项目没有完成样本外预测、股票收益回测或因果识别。我们应如实交付有边界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Module 12 review readiness and applied review tables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约60秒。项目的价值在于把基本面分析中的库存问题整理成可追溯的流程，帮助确定优先研究哪些公司，并把指标与年报背景连接起来。当前证据不足以给出稳定预测关系，因此实际定位是研究筛选和证据组织。下一版先完成四条待审核案例，再考虑同店销售、开店和收购等变量。如果要开展预测，应重新定义披露日之后的预测窗口并做样本外验证。最后可邀请导师讨论样本边界和后续研究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按需要使用，不必在主讲逐行读。Module1确认候选公司和CIK；2用三家公司下载和缓存数据；3匹配同一申报与年度形成六指标面板；4检查口径并计算信号；5建立三年依赖和次年结果；6通过图表、分组和敏感性了解试点数据。每一步都解决一个研究依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按需要使用。Module7扩大候选覆盖；8按结果分别处理缺失；9解释会计差额并重建配对；10检查样本、权重和极端值；11控制基期与公司年度因素；12审核证据并应用决定；13生成报告与复现清单。完成报告与完成所有历史审核是不同进度，本项目明确保留后者的剩余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 Company Facts and the project report, 11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时可以回答：区间包含零说明目前估计不够精确，并不证明效果不存在；42家公司是人工候选池，因此不能宣称行业总体结论；项目不使用预测准确率来描述R平方。参考文献Gaur、Fisher、Raman研究零售库存周转与毛利、资本强度和销售意外，提供经营背景，但本项目的增长差和次年结果问题不同。</a:t>
            </a:r>
          </a:p>
          <a:p xmlns:a="http://schemas.openxmlformats.org/drawingml/2006/main">
            <a:r>
              <a:t>SEC：https://www.sec.gov/search-filings/edgar-application-programming-interfaces</a:t>
            </a:r>
          </a:p>
          <a:p xmlns:a="http://schemas.openxmlformats.org/drawingml/2006/main">
            <a:r>
              <a:t>Gaur et al.：https://pubsonline.informs.org/doi/10.1287/mnsc.1040.0298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SEC EDGAR APIs, original annual filings and Gaur, Fisher and Raman (2005)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f1099715644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1e8860fe24f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7b821189a4e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a9fd260db46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f036575664d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81cb4601047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6525F1-DF3C-4E5F-BA80-80CAE913B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38E65C-2078-40AE-80B7-81DF21405F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C99AEF-BCC2-4D61-B2A5-F9EE60947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41C64-90CF-472B-8E56-B5DFDD005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BF52B5-2DFE-40F4-9466-41636A3025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6BF750-E9D6-422B-8DCE-D45D6E88D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AFC37E-4CC1-4C4E-A91D-2B720C8533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D6A7E1-69A4-49FA-B20D-BAA0BC52B8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272858-1B37-4B43-88B8-76142D8C96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D8F131-3002-49FF-A920-C2AC3D5CF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9feb05012b47f5" /><Relationship Type="http://schemas.openxmlformats.org/officeDocument/2006/relationships/slideLayout" Target="/ppt/slideLayouts/slideLayout1.xml" Id="R0f1e0b7e3dfc44be" /><Relationship Type="http://schemas.openxmlformats.org/officeDocument/2006/relationships/slideLayout" Target="/ppt/slideLayouts/slideLayout2.xml" Id="R8a4d688766ab446e" /><Relationship Type="http://schemas.openxmlformats.org/officeDocument/2006/relationships/slideLayout" Target="/ppt/slideLayouts/slideLayout3.xml" Id="R5acf39b144664dc2" /><Relationship Type="http://schemas.openxmlformats.org/officeDocument/2006/relationships/slideLayout" Target="/ppt/slideLayouts/slideLayout4.xml" Id="Rb18aa14b8e3b417c" /><Relationship Type="http://schemas.openxmlformats.org/officeDocument/2006/relationships/slideLayout" Target="/ppt/slideLayouts/slideLayout5.xml" Id="R54e6340ca0a34335" /><Relationship Type="http://schemas.openxmlformats.org/officeDocument/2006/relationships/slideLayout" Target="/ppt/slideLayouts/slideLayout6.xml" Id="R2ae43b994a8640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e0b7e3dfc44be"/>
    <p:sldLayoutId xmlns:r="http://schemas.openxmlformats.org/officeDocument/2006/relationships" id="2147483650" r:id="R8a4d688766ab446e"/>
    <p:sldLayoutId xmlns:r="http://schemas.openxmlformats.org/officeDocument/2006/relationships" id="2147483651" r:id="R5acf39b144664dc2"/>
    <p:sldLayoutId xmlns:r="http://schemas.openxmlformats.org/officeDocument/2006/relationships" id="2147483652" r:id="Rb18aa14b8e3b417c"/>
    <p:sldLayoutId xmlns:r="http://schemas.openxmlformats.org/officeDocument/2006/relationships" id="2147483653" r:id="R54e6340ca0a34335"/>
    <p:sldLayoutId xmlns:r="http://schemas.openxmlformats.org/officeDocument/2006/relationships" id="2147483654" r:id="R2ae43b994a8640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6ea995a494f39" /><Relationship Type="http://schemas.openxmlformats.org/officeDocument/2006/relationships/notesSlide" Target="/ppt/notesSlides/notesSlide1.xml" Id="R478a81811b9a4a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de03095a64cb4" /><Relationship Type="http://schemas.openxmlformats.org/officeDocument/2006/relationships/notesSlide" Target="/ppt/notesSlides/notesSlide2.xml" Id="R0fe82298ddd344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eaa637fcb4378" /><Relationship Type="http://schemas.openxmlformats.org/officeDocument/2006/relationships/notesSlide" Target="/ppt/notesSlides/notesSlide3.xml" Id="R98dac022c90642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d3fae5b734cc7" /><Relationship Type="http://schemas.openxmlformats.org/officeDocument/2006/relationships/notesSlide" Target="/ppt/notesSlides/notesSlide4.xml" Id="R3604df39ee654a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60fc0e10c4382" /><Relationship Type="http://schemas.openxmlformats.org/officeDocument/2006/relationships/notesSlide" Target="/ppt/notesSlides/notesSlide5.xml" Id="Ree9e71bfe3a14e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a032180e94d34" /><Relationship Type="http://schemas.openxmlformats.org/officeDocument/2006/relationships/notesSlide" Target="/ppt/notesSlides/notesSlide6.xml" Id="R8d5ff1c77250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f72631fb74fa8" /><Relationship Type="http://schemas.openxmlformats.org/officeDocument/2006/relationships/chart" Target="/ppt/slides/charts/chart1.xml" Id="Rbde21d388d00439e" /><Relationship Type="http://schemas.openxmlformats.org/officeDocument/2006/relationships/chart" Target="/ppt/slides/charts/chart2.xml" Id="R70ae45715f3641af" /><Relationship Type="http://schemas.openxmlformats.org/officeDocument/2006/relationships/notesSlide" Target="/ppt/notesSlides/notesSlide7.xml" Id="R5119cbbc218542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36a05fc984013" /><Relationship Type="http://schemas.openxmlformats.org/officeDocument/2006/relationships/notesSlide" Target="/ppt/notesSlides/notesSlide8.xml" Id="Ra836f7e7a71243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63032cfce4da0" /><Relationship Type="http://schemas.openxmlformats.org/officeDocument/2006/relationships/notesSlide" Target="/ppt/notesSlides/notesSlide9.xml" Id="R0b15279a828f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655f1d0e74d12" /><Relationship Type="http://schemas.openxmlformats.org/officeDocument/2006/relationships/notesSlide" Target="/ppt/notesSlides/notesSlide10.xml" Id="R3e66a03590de42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9e8098a164d21" /><Relationship Type="http://schemas.openxmlformats.org/officeDocument/2006/relationships/notesSlide" Target="/ppt/notesSlides/notesSlide11.xml" Id="Rceda2f90a27848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a12f1b0474450" /><Relationship Type="http://schemas.openxmlformats.org/officeDocument/2006/relationships/notesSlide" Target="/ppt/notesSlides/notesSlide12.xml" Id="Rddd144fda88f42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8afc4b17842bb" /><Relationship Type="http://schemas.openxmlformats.org/officeDocument/2006/relationships/notesSlide" Target="/ppt/notesSlides/notesSlide13.xml" Id="R52391b12676540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dd07e6c094d33" /><Relationship Type="http://schemas.openxmlformats.org/officeDocument/2006/relationships/notesSlide" Target="/ppt/notesSlides/notesSlide14.xml" Id="R0e5a110a84d341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f55a7f3934684" /><Relationship Type="http://schemas.openxmlformats.org/officeDocument/2006/relationships/notesSlide" Target="/ppt/notesSlides/notesSlide15.xml" Id="Re68fc4e4575a46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56afcfa554038" /><Relationship Type="http://schemas.openxmlformats.org/officeDocument/2006/relationships/notesSlide" Target="/ppt/notesSlides/notesSlide16.xml" Id="R3b364a5c447f46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c56336ec04b27" /><Relationship Type="http://schemas.openxmlformats.org/officeDocument/2006/relationships/notesSlide" Target="/ppt/notesSlides/notesSlide17.xml" Id="R41f4bb1b26ad4ac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2231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Mean next-year change (pp)</c:v>
          </c:tx>
          <c:spPr>
            <a:solidFill xmlns:a="http://schemas.openxmlformats.org/drawingml/2006/main">
              <a:srgbClr val="245A73"/>
            </a:solidFill>
          </c:spPr>
          <c:cat>
            <c:strRef>
              <c:f>'Chart Data'!$A$2:$A$3</c:f>
              <c:strCache>
                <c:ptCount val="2"/>
                <c:pt idx="0">
                  <c:v>Gap &lt;= 0</c:v>
                </c:pt>
                <c:pt idx="1">
                  <c:v>Gap &gt; 0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0.163777</c:v>
                </c:pt>
                <c:pt idx="1">
                  <c:v>0.1195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Helvetica Neue"/>
                    <a:ea typeface="Helvetica Neue"/>
                    <a:cs typeface="Helvetica Neue"/>
                  </a:rPr>
                  <a:t>Inventory-growth gap group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D9E0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Helvetica Neue"/>
                    <a:ea typeface="Helvetica Neue"/>
                    <a:cs typeface="Helvetica Neue"/>
                  </a:rPr>
                  <a:t>Mean next-year ratio change (pp)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OCF-to-revenue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2231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Mean next-year change (pp)</c:v>
          </c:tx>
          <c:spPr>
            <a:solidFill xmlns:a="http://schemas.openxmlformats.org/drawingml/2006/main">
              <a:srgbClr val="245A7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Gap &lt;= 0</c:v>
                </c:pt>
                <c:pt idx="1">
                  <c:v>Gap &gt; 0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-1.276096</c:v>
                </c:pt>
                <c:pt idx="1">
                  <c:v>0.949242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Helvetica Neue"/>
                    <a:ea typeface="Helvetica Neue"/>
                    <a:cs typeface="Helvetica Neue"/>
                  </a:rPr>
                  <a:t>Inventory-growth gap group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D9E0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Helvetica Neue"/>
                    <a:ea typeface="Helvetica Neue"/>
                    <a:cs typeface="Helvetica Neue"/>
                  </a:rPr>
                  <a:t>Mean next-year ratio change (pp)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esAt val="-1.5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3D19F-8C64-473A-B40D-A3E45A37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34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Inventory Growth and</a:t>
            </a:r>
          </a:p>
          <a:p xmlns:a="http://schemas.openxmlformats.org/drawingml/2006/main">
            <a:pPr>
              <a:def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Subsequent Operating</a:t>
            </a:r>
          </a:p>
          <a:p xmlns:a="http://schemas.openxmlformats.org/drawingml/2006/main">
            <a:pPr>
              <a:def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914A8-4959-41FF-B4DC-7DB00AF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Selected U.S.-listed merchandise retailers and consumer brands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532A8-2ECB-4E39-9DDC-5D99D5F4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Historical associations with partial filing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C8C7F-3D66-49F5-9DA4-C17FFB5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Research report dated 11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566612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2EE94-0340-44E6-A75D-3D02FA32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C6750-7C78-4878-B659-53098CB6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9C87D-34BF-420D-99B0-36F90EA1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B7F37-CD9C-4B2C-A0FC-1C2F284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934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Does inventory growth exceeding revenue growth relate to weaker operating performance in the following year?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A7148-A345-4D2A-AEAE-4356037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Potential pressure: slower demand, markdowns and inventory cash absorption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C9E5-2A11-465F-9DB7-89860553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Alternative explanations: expansion, acquired stores and deliberate replenishment</a:t>
            </a:r>
          </a:p>
        </p:txBody>
      </p:sp>
    </p:spTree>
    <p:extLst>
      <p:ext uri="{BB962C8B-B14F-4D97-AF65-F5344CB8AC3E}">
        <p14:creationId xmlns:p14="http://schemas.microsoft.com/office/powerpoint/2010/main" val="1312557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F9C5F-7EAC-458D-89E6-C14CFDA8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Measures and annual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83328-CD04-46EB-A10F-993B656D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CAAC0-B703-498E-A332-094D615A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32188-21CC-4D94-AFE5-19E87EE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Inventory gap = inventory growth − revenue growth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7ABBC-11AD-4555-999F-611C4781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Gross margin = reported gross profit / analysis revenue</a:t>
            </a:r>
          </a:p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OCF-to-revenue = operating cash flow / analysis revenue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06E84-321D-4BB2-97D7-0A5E86973BF8}"/>
              </a:ext>
            </a:extLst>
          </p:cNvPr>
          <p:cNvGraphicFramePr/>
          <p:nvPr/>
        </p:nvGraphicFramePr>
        <p:xfrm>
          <a:off xmlns:a="http://schemas.openxmlformats.org/drawingml/2006/main" x="628650" y="4010025"/>
          <a:ext xmlns:a="http://schemas.openxmlformats.org/drawingml/2006/main" cx="10934700" cy="1666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48075"/>
                <a:gridCol w="3638550"/>
                <a:gridCol w="3648075"/>
              </a:tblGrid>
              <a:tr h="8334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 year t−1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year t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Following year t+1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8334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Starting inventory</a:t>
                      </a:r>
                    </a:p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Starting 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Growth gap</a:t>
                      </a:r>
                    </a:p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operating ratios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operating ratios</a:t>
                      </a:r>
                    </a:p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Change relative to 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89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4875D-A9FA-4832-8A9C-942FC8A5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Candidate universe and usable samples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58BF3-D0D5-4CA6-8A71-AF2C0236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DEC1-18A1-4A68-B3D9-52EDE877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61F2D-969C-40F7-AD2B-FD5242385003}"/>
              </a:ext>
            </a:extLst>
          </p:cNvPr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57950"/>
                <a:gridCol w="2095500"/>
                <a:gridCol w="2381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sample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Companies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Annual pairs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OCF-to-revenue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Common outcome sample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EF98E-6F51-4E9B-B6F1-B708A3A9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10934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42 candidates across five researcher-defined business groups</a:t>
            </a:r>
          </a:p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656 annual records with unequal histories</a:t>
            </a:r>
          </a:p>
        </p:txBody>
      </p:sp>
    </p:spTree>
    <p:extLst>
      <p:ext uri="{BB962C8B-B14F-4D97-AF65-F5344CB8AC3E}">
        <p14:creationId xmlns:p14="http://schemas.microsoft.com/office/powerpoint/2010/main" val="666853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6BDB-CEBB-4485-ADBA-969304E5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F85A-15D4-4DDA-9407-D48C9A6A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BACA3-DB54-4DD0-AE3A-F884FBA8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73C6A-B04B-4312-9C2A-6B4737769C82}"/>
              </a:ext>
            </a:extLst>
          </p:cNvPr>
          <p:cNvGraphicFramePr/>
          <p:nvPr/>
        </p:nvGraphicFramePr>
        <p:xfrm>
          <a:off xmlns:a="http://schemas.openxmlformats.org/drawingml/2006/main" x="628650" y="1581150"/>
          <a:ext xmlns:a="http://schemas.openxmlformats.org/drawingml/2006/main" cx="109347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8982075"/>
              </a:tblGrid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Modules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acquisition, annual panel and signal/outcome pairing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7–9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Expanded coverage and accounting reconciliation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10–11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evidence and controlled regressions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12–13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Applied filing reviews and final reporting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39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939B8-15CE-4F2A-B793-05B4BB4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Accounting comparability and disclosure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2BE5B-0CCE-4377-9884-3989220B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Module 9 reconciliation and Module 12 pairing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C2888-DED0-4910-BDD0-4EA8C7A4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B7F5-2CA2-4CDB-B020-14CEA3FC0B75}"/>
              </a:ext>
            </a:extLst>
          </p:cNvPr>
          <p:cNvGraphicFramePr/>
          <p:nvPr/>
        </p:nvGraphicFramePr>
        <p:xfrm>
          <a:off xmlns:a="http://schemas.openxmlformats.org/drawingml/2006/main" x="628650" y="158115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7410450"/>
              </a:tblGrid>
              <a:tr h="904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 issue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Treatment or remaining limit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904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Reporting differences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reconciliations, including 4 net-sales denominator adjustments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Changes in business 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Annual scope flags and restrictions on dependent 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Filing availability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filings arrive 38–134 days after the target year starts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D52E0-1396-4047-B465-40506F84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93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The analysis preserves original amounts and records separate analysis values</a:t>
            </a:r>
          </a:p>
        </p:txBody>
      </p:sp>
    </p:spTree>
    <p:extLst>
      <p:ext uri="{BB962C8B-B14F-4D97-AF65-F5344CB8AC3E}">
        <p14:creationId xmlns:p14="http://schemas.microsoft.com/office/powerpoint/2010/main" val="1793478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F8093-A755-4118-8023-4947226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Descriptive differences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9CE5-EFA1-4958-B53F-562A66DA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Module 10 pooled group summaries. Means are in percentage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A7CBD-1AC2-4BE3-87A2-019AF1C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0AC4783-DCF1-487D-818C-E00465733A3F}"/>
              </a:ext>
            </a:extLst>
          </p:cNvPr>
          <p:cNvGraphicFramePr/>
          <p:nvPr/>
        </p:nvGraphicFramePr>
        <p:xfrm>
          <a:off xmlns:a="http://schemas.openxmlformats.org/drawingml/2006/main" x="628650" y="1514475"/>
          <a:ext xmlns:a="http://schemas.openxmlformats.org/drawingml/2006/main" cx="5362575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e21d388d00439e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387B979-7874-4683-8AEC-5B68E801A291}"/>
              </a:ext>
            </a:extLst>
          </p:cNvPr>
          <p:cNvGraphicFramePr/>
          <p:nvPr/>
        </p:nvGraphicFramePr>
        <p:xfrm>
          <a:off xmlns:a="http://schemas.openxmlformats.org/drawingml/2006/main" x="6200775" y="1514475"/>
          <a:ext xmlns:a="http://schemas.openxmlformats.org/drawingml/2006/main" cx="5362575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ae45715f3641a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E2245-6335-4648-8C09-5ACE23B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Pooled comparisons give each annual pair equal weight</a:t>
            </a:r>
          </a:p>
        </p:txBody>
      </p:sp>
    </p:spTree>
    <p:extLst>
      <p:ext uri="{BB962C8B-B14F-4D97-AF65-F5344CB8AC3E}">
        <p14:creationId xmlns:p14="http://schemas.microsoft.com/office/powerpoint/2010/main" val="973079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79E3C-4C90-470F-B83C-ADBD46D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Regression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A3AF0-C6F4-4F64-8901-E9AE98C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Module 11 model specifications and firm-clustered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E051A-3285-4FA6-9374-BD0CB9C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21D88-63AC-4AB9-8524-731A4345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47825"/>
            <a:ext cx="10934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Next-year ratio as the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A333C-40C1-4376-9C81-38C4095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09347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Inventory-growth gap</a:t>
            </a:r>
          </a:p>
          <a:p xmlns:a="http://schemas.openxmlformats.org/drawingml/2006/main">
            <a: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Current operating ratio</a:t>
            </a:r>
          </a:p>
          <a:p xmlns:a="http://schemas.openxmlformats.org/drawingml/2006/main">
            <a: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Revenue growth and log total assets</a:t>
            </a:r>
          </a:p>
          <a:p xmlns:a="http://schemas.openxmlformats.org/drawingml/2006/main">
            <a: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Company effects and target-end-year effects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CB0AD-4381-4996-8855-39B02AF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OLS with company-clustered standard errors and t-based 95% intervals</a:t>
            </a:r>
          </a:p>
          <a:p xmlns:a="http://schemas.openxmlformats.org/drawingml/2006/main">
            <a:pPr>
              <a:def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Estimates scale to a 10 percentage-point inventory gap</a:t>
            </a:r>
          </a:p>
        </p:txBody>
      </p:sp>
    </p:spTree>
    <p:extLst>
      <p:ext uri="{BB962C8B-B14F-4D97-AF65-F5344CB8AC3E}">
        <p14:creationId xmlns:p14="http://schemas.microsoft.com/office/powerpoint/2010/main" val="376376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F042D-FC9F-4B98-987B-1C767D0A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Adjusted intervals include zero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1D0E1-8ABF-48EE-B820-4A353E28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Module 11 fully adjusted models. Firm-clustered 95% intervals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B109A-A6E0-4C5A-9FB8-62469CF6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8E0CB-1F5F-40BE-920D-63C0F24CED2C}"/>
              </a:ext>
            </a:extLst>
          </p:cNvPr>
          <p:cNvGraphicFramePr/>
          <p:nvPr/>
        </p:nvGraphicFramePr>
        <p:xfrm>
          <a:off xmlns:a="http://schemas.openxmlformats.org/drawingml/2006/main" x="628650" y="1657350"/>
          <a:ext xmlns:a="http://schemas.openxmlformats.org/drawingml/2006/main" cx="10934700" cy="2457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2381250"/>
                <a:gridCol w="3028950"/>
                <a:gridCol w="180975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Estimate per 10pp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95% interval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Pairs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[-0.349, +0.016]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OCF-to-revenue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+0.196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[-0.103, +0.494]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4E231-3E65-414B-87D6-B184B939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10934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The examined model leaves substantial uncertainty around the association</a:t>
            </a:r>
          </a:p>
        </p:txBody>
      </p:sp>
    </p:spTree>
    <p:extLst>
      <p:ext uri="{BB962C8B-B14F-4D97-AF65-F5344CB8AC3E}">
        <p14:creationId xmlns:p14="http://schemas.microsoft.com/office/powerpoint/2010/main" val="1848661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1E019-7E83-4B2D-BE94-7292D55E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Adjusted sensitivity estimates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23F9A-EBFD-4841-B685-895676E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expanded_adjusted_regression_sensitivity.csv. Estimates and intervals are pp per 10pp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0B5A8-3982-4FA7-9109-B84C764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25009-7C5C-4F13-8BF5-C85B0D349B03}"/>
              </a:ext>
            </a:extLst>
          </p:cNvPr>
          <p:cNvGraphicFramePr/>
          <p:nvPr/>
        </p:nvGraphicFramePr>
        <p:xfrm>
          <a:off xmlns:a="http://schemas.openxmlformats.org/drawingml/2006/main" x="628650" y="1514475"/>
          <a:ext xmlns:a="http://schemas.openxmlformats.org/drawingml/2006/main" cx="1093470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9825"/>
                <a:gridCol w="2905125"/>
                <a:gridCol w="857250"/>
                <a:gridCol w="1619250"/>
                <a:gridCol w="314325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Estimate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95% interval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[-0.349, +0.016]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Similar year lengths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[-0.227, +0.184]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Common sample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[-0.351, +0.014]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Central 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[-0.412, +0.034]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OCF/revenue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+0.196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[-0.103, +0.494]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OCF/revenue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Similar year lengths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[-0.526, +0.460]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OCF/revenue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Common sample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+0.241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[-0.094, +0.575]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OCF/revenue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Central 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+0.207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[-0.197, +0.611]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07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DF95E-FBF3-4423-8922-D86AA0A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URBN: expansion and markdown pressure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6213-307A-4096-B708-22D157AC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URBN filings for periods ending 2011-01-31 and 2012-01-31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95AE5-EDDA-4DBB-B8D4-3B42489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B231B-DEF3-4AD2-AA52-E6573DB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93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Current period end: 2011-01-31</a:t>
            </a:r>
          </a:p>
          <a:p xmlns:a="http://schemas.openxmlformats.org/drawingml/2006/main">
            <a:pPr>
              <a:defRPr sz="21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Next period end: 2012-01-31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7746B-7776-4858-8912-0EFBC2FC3587}"/>
              </a:ext>
            </a:extLst>
          </p:cNvPr>
          <p:cNvGraphicFramePr/>
          <p:nvPr/>
        </p:nvGraphicFramePr>
        <p:xfrm>
          <a:off xmlns:a="http://schemas.openxmlformats.org/drawingml/2006/main" x="628650" y="2876550"/>
          <a:ext xmlns:a="http://schemas.openxmlformats.org/drawingml/2006/main" cx="1093470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333750"/>
                <a:gridCol w="4362450"/>
              </a:tblGrid>
              <a:tr h="790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Inventory gap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GM change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OCF/revenue change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790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+5.98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-6.40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-5.51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53A39-D49E-42B0-A1CE-DC8DE30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934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Store and channel expansion affected inventory growth</a:t>
            </a:r>
          </a:p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Markdowns and occupancy costs pressured the following year’s margin</a:t>
            </a:r>
          </a:p>
        </p:txBody>
      </p:sp>
    </p:spTree>
    <p:extLst>
      <p:ext uri="{BB962C8B-B14F-4D97-AF65-F5344CB8AC3E}">
        <p14:creationId xmlns:p14="http://schemas.microsoft.com/office/powerpoint/2010/main" val="4750194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C356F-39C4-44AC-A36A-F0BF6FA2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SPWH: demand and replenishment cycles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C591F-1700-4CAC-8F97-C7FBE17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SPWH FY2020–FY2022 filings. All table values are percentage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ACCE5-1A6D-46F4-B475-1414BBE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0A7A-5A4D-4952-A4D5-C65D437477C6}"/>
              </a:ext>
            </a:extLst>
          </p:cNvPr>
          <p:cNvGraphicFramePr/>
          <p:nvPr/>
        </p:nvGraphicFramePr>
        <p:xfrm>
          <a:off xmlns:a="http://schemas.openxmlformats.org/drawingml/2006/main" x="628650" y="1647825"/>
          <a:ext xmlns:a="http://schemas.openxmlformats.org/drawingml/2006/main" cx="109347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2409825"/>
                <a:gridCol w="2667000"/>
                <a:gridCol w="3190875"/>
              </a:tblGrid>
              <a:tr h="841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end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Inventory gap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GM change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OCF/revenue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841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2021-01-30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-75.42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-17.89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+55.05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+4.78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D9D5F-31D9-49CE-A3AA-7D5D6FC0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34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Replenishment and vendor payments affect operating cash flow</a:t>
            </a:r>
          </a:p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 USD55m merger-termination receipt complicates the FY2021 baseline</a:t>
            </a:r>
          </a:p>
        </p:txBody>
      </p:sp>
    </p:spTree>
    <p:extLst>
      <p:ext uri="{BB962C8B-B14F-4D97-AF65-F5344CB8AC3E}">
        <p14:creationId xmlns:p14="http://schemas.microsoft.com/office/powerpoint/2010/main" val="38188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079C5-FC0E-44F7-8B37-2B18FE02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Review coverage and research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3BDDC-7BC1-4E18-85E2-B35EAFA5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Module 12 review readiness and applied review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A8606-B218-40A3-B120-0AB714E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CDC36-9166-4DBC-AB2C-F519BF75A91D}"/>
              </a:ext>
            </a:extLst>
          </p:cNvPr>
          <p:cNvGraphicFramePr/>
          <p:nvPr/>
        </p:nvGraphicFramePr>
        <p:xfrm>
          <a:off xmlns:a="http://schemas.openxmlformats.org/drawingml/2006/main" x="628650" y="1524000"/>
          <a:ext xmlns:a="http://schemas.openxmlformats.org/drawingml/2006/main" cx="109347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362700"/>
                <a:gridCol w="2286000"/>
                <a:gridCol w="2286000"/>
              </a:tblGrid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scope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Company eligibility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Annual 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cases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6994A-DDFD-4674-8A63-FBC5072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Manual selection, unequal histories and accounting differences limit generalization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974F5-EC45-426C-A85F-C7A597C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Historical information timing, predictive performance and causality remain unverified</a:t>
            </a:r>
          </a:p>
        </p:txBody>
      </p:sp>
    </p:spTree>
    <p:extLst>
      <p:ext uri="{BB962C8B-B14F-4D97-AF65-F5344CB8AC3E}">
        <p14:creationId xmlns:p14="http://schemas.microsoft.com/office/powerpoint/2010/main" val="3066334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E7B46-F4B6-4A0B-B47E-14E85B0C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Research contribution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04C42-7EE7-488F-9F13-0F71A98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B53B5-AD4B-47E8-8651-8D80A0C3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3EBC2-7D11-4458-8AB7-1E9313E1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A reproducible workflow for prioritizing fundamental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A86B-3CE1-4EA3-8BA9-C1DC26D4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Inventory signals connect to accounting checks and cited business explanations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0D905-7D67-45E7-9D44-2609A02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934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Next work: remaining case reviews, demand and expansion measures</a:t>
            </a:r>
          </a:p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Prediction research requires a filing-date forecast horizon and out-of-sample tests</a:t>
            </a:r>
          </a:p>
        </p:txBody>
      </p:sp>
    </p:spTree>
    <p:extLst>
      <p:ext uri="{BB962C8B-B14F-4D97-AF65-F5344CB8AC3E}">
        <p14:creationId xmlns:p14="http://schemas.microsoft.com/office/powerpoint/2010/main" val="13776707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C4A19-0105-4A71-9A6F-CAEDC5D3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Appendix: Modules 1–6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7E0D9-0961-4E6C-8B73-E37F739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551B5-74E5-414B-91BF-7112174C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03058-9530-45FE-B579-168FD7FC2BFD}"/>
              </a:ext>
            </a:extLst>
          </p:cNvPr>
          <p:cNvGraphicFramePr/>
          <p:nvPr/>
        </p:nvGraphicFramePr>
        <p:xfrm>
          <a:off xmlns:a="http://schemas.openxmlformats.org/drawingml/2006/main" x="628650" y="1457325"/>
          <a:ext xmlns:a="http://schemas.openxmlformats.org/drawingml/2006/main" cx="10934700" cy="4524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3762375"/>
                <a:gridCol w="5934075"/>
              </a:tblGrid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Universe and SEC 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Identify the filing 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acquisition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the data structure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Annual panel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Align periods and filing versions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 and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comparability and define signals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Next-year 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Establish annual dependencies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63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exploration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Inspect distribution and company differences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6972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DC318-BA0C-483F-8E3B-9468C7C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Appendix: Modules 7–13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BF7A8-23B9-4267-BA0A-99E137CC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Source: SEC Company Facts and the project report, 11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CE60D-D785-44B7-9576-5DD6A6DA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28F23-5B5D-4658-A211-D3CDEC566A7E}"/>
              </a:ext>
            </a:extLst>
          </p:cNvPr>
          <p:cNvGraphicFramePr/>
          <p:nvPr/>
        </p:nvGraphicFramePr>
        <p:xfrm>
          <a:off xmlns:a="http://schemas.openxmlformats.org/drawingml/2006/main" x="628650" y="1419225"/>
          <a:ext xmlns:a="http://schemas.openxmlformats.org/drawingml/2006/main" cx="10934700" cy="4591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3762375"/>
                <a:gridCol w="5934075"/>
              </a:tblGrid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5A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Expanded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 data availability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Outcome-specific samples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usable information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Accounting reconciliation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Explain reporting differences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Expanded sensitivity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weighting and sample choices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regressions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 conditional associations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Applied filing reviews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 decisions to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 and provenance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Communicate evidence and limitations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1812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C97DB-803C-4E10-8DB0-B59D4CB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Appendix: sources and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06AB5-F030-47F5-A961-6101663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Sources: SEC EDGAR APIs, original annual filings and Gaur, Fisher and Raman (2005)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6B54F-A2A7-4F78-BC33-96E10584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8B73A-148E-4264-829E-812F50E2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45A73"/>
                </a:solidFill>
                <a:latin typeface="Helvetica Neue"/>
                <a:ea typeface="Helvetica Neue"/>
                <a:cs typeface="Helvetica Neue"/>
              </a:rPr>
              <a:t>SEC Company Facts and cited annual filings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0BC8-2250-41B5-8F52-201CAE6E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0934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Gaur, Fisher and Raman (2005)</a:t>
            </a:r>
          </a:p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An Econometric Analysis of Inventory Turnover Performance in Retail Services</a:t>
            </a:r>
          </a:p>
          <a:p xmlns:a="http://schemas.openxmlformats.org/drawingml/2006/main">
            <a:pPr>
              <a:def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Management Science, 51(2), 181–194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2FCB4-13C3-45C4-B791-81CAEA9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10934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313A"/>
                </a:solidFill>
                <a:latin typeface="Helvetica Neue"/>
                <a:ea typeface="Helvetica Neue"/>
                <a:cs typeface="Helvetica Neue"/>
              </a:rPr>
              <a:t>Discussion: sample boundaries, review priorities and the next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844841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2026-10-12T00:37:54.4890000Z</dcterms:created>
  <dcterms:modified xsi:type="dcterms:W3CDTF">2026-10-12T00:37:54.4890000Z</dcterms:modified>
</coreProperties>
</file>